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6" r:id="rId4"/>
    <p:sldId id="259" r:id="rId5"/>
    <p:sldId id="267" r:id="rId6"/>
    <p:sldId id="268" r:id="rId7"/>
    <p:sldId id="26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 snapToObjects="1">
      <p:cViewPr varScale="1">
        <p:scale>
          <a:sx n="117" d="100"/>
          <a:sy n="117" d="100"/>
        </p:scale>
        <p:origin x="7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</a:t>
            </a:r>
            <a:r>
              <a:rPr lang="en-US" dirty="0"/>
              <a:t>I</a:t>
            </a:r>
            <a:r>
              <a:rPr dirty="0"/>
              <a:t> Built</a:t>
            </a:r>
          </a:p>
          <a:p>
            <a:pPr lvl="1"/>
            <a:r>
              <a:rPr dirty="0"/>
              <a:t>• Integrated inpatient, outpatient, and beneficiary Medicare data</a:t>
            </a:r>
          </a:p>
          <a:p>
            <a:pPr lvl="1"/>
            <a:r>
              <a:rPr dirty="0"/>
              <a:t>• Engineered provider-level features (claims, reimbursements, patient mix)</a:t>
            </a:r>
          </a:p>
          <a:p>
            <a:pPr lvl="1"/>
            <a:r>
              <a:rPr dirty="0"/>
              <a:t>• Trained </a:t>
            </a:r>
            <a:r>
              <a:rPr dirty="0" err="1"/>
              <a:t>GradientBoostingClassifier</a:t>
            </a:r>
            <a:r>
              <a:rPr dirty="0"/>
              <a:t> with preprocessing pipeline</a:t>
            </a:r>
          </a:p>
          <a:p>
            <a:pPr lvl="1"/>
            <a:r>
              <a:rPr dirty="0"/>
              <a:t>• Evaluated results using ROC-AUC, PR-AUC, and Confusion Matrix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Performed</a:t>
            </a:r>
          </a:p>
          <a:p>
            <a:pPr lvl="1"/>
            <a:r>
              <a:t>• Combined inpatient, outpatient &amp; beneficiary files</a:t>
            </a:r>
          </a:p>
          <a:p>
            <a:pPr lvl="1"/>
            <a:r>
              <a:t>• Imputed missing values using median</a:t>
            </a:r>
          </a:p>
          <a:p>
            <a:pPr lvl="1"/>
            <a:r>
              <a:t>• Applied StandardScaler for normalization</a:t>
            </a:r>
          </a:p>
          <a:p>
            <a:pPr lvl="1"/>
            <a:r>
              <a:t>• Extracted FraudLabel as target for supervised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Gradient Boosting Was Selected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Key Reasons Gradient Boosting Outperformed Others:</a:t>
            </a:r>
          </a:p>
          <a:p>
            <a:pPr lvl="1"/>
            <a:r>
              <a:t>• Achieved the highest PR-AUC (most important for fraud detection).</a:t>
            </a:r>
          </a:p>
          <a:p>
            <a:pPr lvl="1"/>
            <a:r>
              <a:t>• Sequential learning corrects previous tree mistakes.</a:t>
            </a:r>
          </a:p>
          <a:p>
            <a:pPr lvl="1"/>
            <a:r>
              <a:t>• Captures nonlinear patterns and feature interactions.</a:t>
            </a:r>
          </a:p>
          <a:p>
            <a:pPr lvl="1"/>
            <a:r>
              <a:t>• Excellent performance on tabular, imbalanced datasets.</a:t>
            </a:r>
          </a:p>
          <a:p>
            <a:pPr lvl="1"/>
            <a:r>
              <a:t>• More stable than Random Forest and more flexible than Logistic Regression.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GradientBoostingClassifier</a:t>
            </a:r>
            <a:endParaRPr dirty="0"/>
          </a:p>
          <a:p>
            <a:pPr lvl="1"/>
            <a:r>
              <a:rPr dirty="0"/>
              <a:t>• Handles nonlinear relationships well</a:t>
            </a:r>
          </a:p>
          <a:p>
            <a:pPr lvl="1"/>
            <a:r>
              <a:rPr dirty="0"/>
              <a:t>• Performs strongly on tabular data</a:t>
            </a:r>
          </a:p>
          <a:p>
            <a:pPr lvl="1"/>
            <a:r>
              <a:rPr dirty="0"/>
              <a:t>• Less sensitive to scaling issues</a:t>
            </a:r>
          </a:p>
          <a:p>
            <a:pPr lvl="1"/>
            <a:r>
              <a:rPr dirty="0"/>
              <a:t>• Proven performance in fraud detection problems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Gradient Boosting Differs From Other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Differences:</a:t>
            </a:r>
          </a:p>
          <a:p>
            <a:pPr lvl="1"/>
            <a:r>
              <a:t>• Logistic Regression: Linear model, misses complex patterns.</a:t>
            </a:r>
          </a:p>
          <a:p>
            <a:pPr lvl="1"/>
            <a:r>
              <a:t>• Random Forest: Strong but builds trees independently, not sequentially.</a:t>
            </a:r>
          </a:p>
          <a:p>
            <a:pPr lvl="1"/>
            <a:r>
              <a:t>• Gradient Boosting: Each tree improves previous errors → superior fraud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ROC-AUC Comparison Across Models</a:t>
            </a:r>
          </a:p>
        </p:txBody>
      </p:sp>
      <p:pic>
        <p:nvPicPr>
          <p:cNvPr id="3" name="Picture 2" descr="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0873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PR-AUC Comparison Across Models</a:t>
            </a:r>
          </a:p>
        </p:txBody>
      </p:sp>
      <p:pic>
        <p:nvPicPr>
          <p:cNvPr id="3" name="Picture 2" descr="p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0873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</a:t>
            </a:r>
          </a:p>
        </p:txBody>
      </p:sp>
      <p:pic>
        <p:nvPicPr>
          <p:cNvPr id="3" name="Picture 2" descr="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7460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Precision–Recall Curve</a:t>
            </a:r>
          </a:p>
        </p:txBody>
      </p:sp>
      <p:pic>
        <p:nvPicPr>
          <p:cNvPr id="3" name="Picture 2" descr="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7460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pic>
        <p:nvPicPr>
          <p:cNvPr id="3" name="Picture 2" descr="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4586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Feature Importances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1463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</a:t>
            </a:r>
            <a:r>
              <a:rPr lang="en-US" dirty="0"/>
              <a:t>I</a:t>
            </a:r>
            <a:r>
              <a:rPr dirty="0"/>
              <a:t> Discovered</a:t>
            </a:r>
          </a:p>
          <a:p>
            <a:pPr lvl="1"/>
            <a:r>
              <a:rPr dirty="0"/>
              <a:t>• Model achieved strong ROC-AUC and PR-AUC performance</a:t>
            </a:r>
          </a:p>
          <a:p>
            <a:pPr lvl="1"/>
            <a:r>
              <a:rPr dirty="0"/>
              <a:t>• Indicates effective separation between fraud vs. non-fraud providers</a:t>
            </a:r>
          </a:p>
          <a:p>
            <a:pPr lvl="1"/>
            <a:r>
              <a:rPr dirty="0"/>
              <a:t>• Feature importance showed financial and claim-volume metrics matter most</a:t>
            </a:r>
          </a:p>
          <a:p>
            <a:pPr lvl="1"/>
            <a:r>
              <a:rPr dirty="0"/>
              <a:t>• Pipeline fully reproducible and scalable for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280</Words>
  <Application>Microsoft Macintosh PowerPoint</Application>
  <PresentationFormat>On-screen Show (4:3)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Project Overview</vt:lpstr>
      <vt:lpstr>Data Preparation &amp; Processing</vt:lpstr>
      <vt:lpstr>Why Gradient Boosting Was Selected</vt:lpstr>
      <vt:lpstr>Model Training</vt:lpstr>
      <vt:lpstr>How Gradient Boosting Differs From Other Models</vt:lpstr>
      <vt:lpstr>ROC-AUC Comparison Across Models</vt:lpstr>
      <vt:lpstr>PR-AUC Comparison Across Models</vt:lpstr>
      <vt:lpstr>ROC Curve</vt:lpstr>
      <vt:lpstr>Precision–Recall Curve</vt:lpstr>
      <vt:lpstr>Confusion Matrix</vt:lpstr>
      <vt:lpstr>Top Feature Importances</vt:lpstr>
      <vt:lpstr>Conclusion &amp; Key Findings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Marwan Aly</cp:lastModifiedBy>
  <cp:revision>3</cp:revision>
  <dcterms:created xsi:type="dcterms:W3CDTF">2013-01-27T09:14:16Z</dcterms:created>
  <dcterms:modified xsi:type="dcterms:W3CDTF">2025-12-03T21:20:15Z</dcterms:modified>
  <cp:category/>
</cp:coreProperties>
</file>